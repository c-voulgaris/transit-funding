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5" r:id="rId6"/>
    <p:sldId id="262" r:id="rId7"/>
    <p:sldId id="260" r:id="rId8"/>
    <p:sldId id="261" r:id="rId9"/>
    <p:sldId id="263" r:id="rId10"/>
    <p:sldId id="266" r:id="rId11"/>
    <p:sldId id="264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00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8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3A1557-8F3E-FF77-D4E2-BAAB36B90C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4DFCE3-68B5-7C5F-FD9F-2A8894FF0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05CDE7-FDC5-F61C-22BD-8C6370C3B1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5EA5E4-121C-3D75-E5AC-A48990176A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2D570-CD52-6DBB-CBED-AC5126599D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80221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AB9D60-2326-CC99-5D1E-92DFE4244B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E2C3B7-8A8E-4B05-6FBA-C0D793AD1C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CCEEC-21FC-0B28-CBD7-B6B7D7D2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447E9C-DB31-0E35-1189-5DA022AB2C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E212FB-B2B5-A4C9-FC03-AEAC924D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2457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CE229-D952-618D-ABE2-3E05746F1A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0597E62-7305-5F00-A220-E86EB9803B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E8D7F6-2455-50AC-D479-2F49057EB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1D510D-3902-DEEF-E91B-FF87F351B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8E0E63-40DA-6A9E-FCAA-7D3A5DC03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70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106529-86C7-BE7F-F59F-7D2F9D65B8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B416C6-17EC-449A-0EA9-21EB6BDFF7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844B2FD-425E-66A8-8097-86DB06ABE8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E9D4F5-E5BF-A16D-2D64-F9107C855D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16C1A3A-5F64-5AE6-BEE7-33A52F446B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CA5F74-D367-AA09-1010-6C7946339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61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CEA80-6D8F-4EF4-DA6A-B1C50504D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AD4ACE-A3CD-01E5-8CEE-259F7A2D2E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C89FAE-3015-A5CD-5FF0-6F60DA51F5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5CE549A-BE11-F291-76FF-1137BC8403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0F888CC-3158-E05E-6219-2C2A24884C8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8C74BF-6B7B-BEBA-E797-D76495C08F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EE43CDE-28B4-C105-E51D-3C172C300E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69E5474-E8BB-9081-D50E-3D5E05168B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84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F01400-3DEC-EF06-B7F2-72E10C97D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53F0702-6445-777D-A7E4-2CA6557FDE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99E666C-44C6-BA14-7A93-14E21A734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37D5F6-D452-2B16-0BF5-69F737F04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2237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E33715-6C9A-57C0-2E04-55CE0EAB6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A7DD8C5-0511-AF7E-BA31-F5EA9FC10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4B1356-ED49-FD2F-1B95-3412E2D019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5609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E6442-8D97-3A80-2E48-5FD68096D8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925921-E4E5-27D7-93B3-FACA2C7A09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B66564-F8EA-37E4-39D0-532A773EE5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2D63C28-6DF8-C887-EDDB-A21648FE8B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81DB773-6CF2-AC3B-C89D-20B5E4618A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BFD19E-47CD-F5EF-97EB-DEFA75A19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23677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46114D-8417-6710-6D5E-AFFB82E58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6615B20-16FE-ABD7-05A3-619448B0B6C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0EB050-EB7E-0B07-7DB4-9EACA271BC2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B8E3CA-08DC-E160-4843-FF2D8671D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AC3E8F-76A3-F8D7-E8C2-0B2B4F128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3E55D6-F991-A46A-3B1D-7D3EF0163A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9878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3C58C4-8F67-A65F-5ED0-16E479BD4D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273CCC-BCF8-20C8-9D55-F4EC35D147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2BFC5-BBD9-F044-2FEF-56B5D7CA97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8D9633-F43E-8CF2-EB2A-FD7977E119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5DC115-1D6F-539F-2B99-F6BD803FE9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8615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D96F51B-5DFE-6551-15F8-4A1239789D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CA6798-3FC5-F632-5EEC-040E3ABBC9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78735A-B286-5866-3339-81511126E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A3BAA2-91A2-D147-4C72-3925B2C7D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F618F8-41E3-7017-EC33-5D60F2D11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392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F8BFDF-80EB-F41B-D704-1F98E2DA64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B981D0-3FB2-03A3-A773-9672541E6D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2C2F6A-A206-D79A-0D6D-C83DDF02B9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9E756D5-9D56-4266-A5E0-D9FCD0C005CC}" type="datetimeFigureOut">
              <a:rPr lang="en-US" smtClean="0"/>
              <a:t>10/27/2025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B7F7D7-719A-87D7-4EED-34B91E531AF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F823FA-CC56-59C7-93AB-82B37C7608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E11DD0-A971-490B-A0A1-3A08B9A67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617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4A8A02-DDEB-615A-CDF3-F67156E57BC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Transit Funding in the United States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8C14FF3-191E-A787-7882-1FBCBDAB24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Carole Turley Voulgaris</a:t>
            </a:r>
          </a:p>
          <a:p>
            <a:r>
              <a:rPr lang="en-US" dirty="0"/>
              <a:t>Associate Professor of Urban Planning</a:t>
            </a:r>
          </a:p>
          <a:p>
            <a:r>
              <a:rPr lang="en-US" dirty="0"/>
              <a:t>Harvard Graduate School of Design </a:t>
            </a:r>
          </a:p>
        </p:txBody>
      </p:sp>
    </p:spTree>
    <p:extLst>
      <p:ext uri="{BB962C8B-B14F-4D97-AF65-F5344CB8AC3E}">
        <p14:creationId xmlns:p14="http://schemas.microsoft.com/office/powerpoint/2010/main" val="1630887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598B67-70EC-1028-B8F8-CB825D91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656909" cy="1325563"/>
          </a:xfrm>
        </p:spPr>
        <p:txBody>
          <a:bodyPr/>
          <a:lstStyle/>
          <a:p>
            <a:r>
              <a:rPr lang="en-US" dirty="0"/>
              <a:t>Transit agencies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792EA4-270D-CEDB-08A2-673873DC2A4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There are 2,292 Public Transit Agencies in the United States</a:t>
            </a:r>
          </a:p>
          <a:p>
            <a:r>
              <a:rPr lang="en-US" dirty="0"/>
              <a:t>1,333 offer fixed-route service</a:t>
            </a:r>
          </a:p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B2DE4E8-6D4B-2676-21B3-DFF8FDA0E0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97359" y="1543975"/>
            <a:ext cx="5181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Largest transit agencies </a:t>
            </a:r>
          </a:p>
          <a:p>
            <a:pPr marL="0" indent="0">
              <a:spcBef>
                <a:spcPts val="0"/>
              </a:spcBef>
              <a:buNone/>
            </a:pPr>
            <a:r>
              <a:rPr lang="en-US" sz="1600" dirty="0"/>
              <a:t>(by miles of fixed-route service provided)</a:t>
            </a:r>
          </a:p>
          <a:p>
            <a:r>
              <a:rPr lang="en-US" sz="2000" dirty="0"/>
              <a:t>New York MTA (18% of all fixed-route service in the United States)</a:t>
            </a:r>
          </a:p>
          <a:p>
            <a:r>
              <a:rPr lang="en-US" sz="2000" dirty="0"/>
              <a:t>New Jersey Transit (4%)</a:t>
            </a:r>
          </a:p>
          <a:p>
            <a:r>
              <a:rPr lang="en-US" sz="2000" dirty="0"/>
              <a:t>WMATA (4%)</a:t>
            </a:r>
          </a:p>
          <a:p>
            <a:r>
              <a:rPr lang="en-US" sz="2000" dirty="0"/>
              <a:t>Chicago Transit Authority (4%)</a:t>
            </a:r>
          </a:p>
          <a:p>
            <a:r>
              <a:rPr lang="en-US" sz="2000" dirty="0"/>
              <a:t>LA Metro (3%)</a:t>
            </a:r>
          </a:p>
          <a:p>
            <a:r>
              <a:rPr lang="en-US" sz="2000" dirty="0"/>
              <a:t>SF BART (2%) </a:t>
            </a:r>
          </a:p>
          <a:p>
            <a:r>
              <a:rPr lang="en-US" sz="2000" dirty="0"/>
              <a:t>All other transit agencies combined (65%)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FDA114A-893E-2538-2C41-8EAA0F523C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52134735"/>
              </p:ext>
            </p:extLst>
          </p:nvPr>
        </p:nvGraphicFramePr>
        <p:xfrm>
          <a:off x="251286" y="4001294"/>
          <a:ext cx="5635892" cy="263017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454898">
                  <a:extLst>
                    <a:ext uri="{9D8B030D-6E8A-4147-A177-3AD203B41FA5}">
                      <a16:colId xmlns:a16="http://schemas.microsoft.com/office/drawing/2014/main" val="2770551895"/>
                    </a:ext>
                  </a:extLst>
                </a:gridCol>
                <a:gridCol w="1579630">
                  <a:extLst>
                    <a:ext uri="{9D8B030D-6E8A-4147-A177-3AD203B41FA5}">
                      <a16:colId xmlns:a16="http://schemas.microsoft.com/office/drawing/2014/main" val="3276148146"/>
                    </a:ext>
                  </a:extLst>
                </a:gridCol>
                <a:gridCol w="1601364">
                  <a:extLst>
                    <a:ext uri="{9D8B030D-6E8A-4147-A177-3AD203B41FA5}">
                      <a16:colId xmlns:a16="http://schemas.microsoft.com/office/drawing/2014/main" val="2289331021"/>
                    </a:ext>
                  </a:extLst>
                </a:gridCol>
              </a:tblGrid>
              <a:tr h="184150">
                <a:tc>
                  <a:txBody>
                    <a:bodyPr/>
                    <a:lstStyle/>
                    <a:p>
                      <a:pPr algn="l" fontAlgn="b"/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With fixed-route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u="none" strike="noStrike" dirty="0">
                          <a:effectLst/>
                        </a:rPr>
                        <a:t>Demand-response only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48184980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Local government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637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513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510011554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Independent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371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65094541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Private non-profit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99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267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09240763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Tribe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81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56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05014088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MPO, COG, or planning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27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442644269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State agency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32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79795808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Private firm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22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97984493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>
                          <a:effectLst/>
                        </a:rPr>
                        <a:t>University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1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80463667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u="none" strike="noStrike" dirty="0">
                          <a:effectLst/>
                        </a:rPr>
                        <a:t>Other</a:t>
                      </a:r>
                      <a:endParaRPr lang="en-US" sz="14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25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u="none" strike="noStrike">
                          <a:effectLst/>
                        </a:rPr>
                        <a:t>44</a:t>
                      </a:r>
                      <a:endParaRPr lang="en-US" sz="14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0020005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Total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1333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r" fontAlgn="b"/>
                      <a:r>
                        <a:rPr lang="en-US" sz="1400" b="1" u="none" strike="noStrike" dirty="0">
                          <a:effectLst/>
                        </a:rPr>
                        <a:t>959</a:t>
                      </a:r>
                      <a:endParaRPr lang="en-US" sz="1400" b="1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207214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84759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DEC60-089D-6AEF-58DC-BEEE8A7B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Capital and operating expenditures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104D32-99DF-EA98-5F35-45C1E588ED6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Capital expenditures: </a:t>
            </a:r>
            <a:r>
              <a:rPr lang="en-US" dirty="0"/>
              <a:t>The purchase, construction, and maintenance of vehicles and facilities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b="1" dirty="0"/>
              <a:t>Operating expenditures: </a:t>
            </a:r>
            <a:r>
              <a:rPr lang="en-US" dirty="0"/>
              <a:t>Salaries associated with operating the service and purchase of fuel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A5CA7F4-5407-3844-E5DF-8F3344F63F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448692" y="1604954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55302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0F2C21-3E41-4A7C-D018-9310672FA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Revenue Sources</a:t>
            </a:r>
          </a:p>
        </p:txBody>
      </p:sp>
      <p:pic>
        <p:nvPicPr>
          <p:cNvPr id="6" name="Picture 5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5949CABE-2977-3055-85FB-9514D3C35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10589" y="1690688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19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C7E497D-B9C0-9D50-DE0B-5532C2C517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Federal Funding</a:t>
            </a:r>
          </a:p>
        </p:txBody>
      </p:sp>
    </p:spTree>
    <p:extLst>
      <p:ext uri="{BB962C8B-B14F-4D97-AF65-F5344CB8AC3E}">
        <p14:creationId xmlns:p14="http://schemas.microsoft.com/office/powerpoint/2010/main" val="33367845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604D6-7A8B-45E9-4707-3C5E6F4FAC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Federal funding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EBF8561-E059-D372-45BC-8457F178F8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3670979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Highway trust fund</a:t>
            </a:r>
          </a:p>
          <a:p>
            <a:r>
              <a:rPr lang="en-US" sz="2000" dirty="0"/>
              <a:t>2.86₵/gallon of the federal gas tax (18.4₵/gallon since 1993) goes into the Mass Transit Account.</a:t>
            </a:r>
          </a:p>
          <a:p>
            <a:r>
              <a:rPr lang="en-US" sz="2000" dirty="0"/>
              <a:t>Remaining federal spending on transit comes from the general fund.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7E8C02-4973-203D-3B98-9F14ABBE45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750" y="2060637"/>
            <a:ext cx="6578336" cy="349817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FB224ED-9001-A755-8EE3-1DAE9C5007C6}"/>
              </a:ext>
            </a:extLst>
          </p:cNvPr>
          <p:cNvSpPr txBox="1"/>
          <p:nvPr/>
        </p:nvSpPr>
        <p:spPr>
          <a:xfrm>
            <a:off x="4667976" y="5634394"/>
            <a:ext cx="6097162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00" dirty="0"/>
              <a:t>https://www.congress.gov/crs-product/R47002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7F143E9-803D-5E7B-6E99-4B66AE85AB93}"/>
              </a:ext>
            </a:extLst>
          </p:cNvPr>
          <p:cNvSpPr/>
          <p:nvPr/>
        </p:nvSpPr>
        <p:spPr>
          <a:xfrm>
            <a:off x="5540188" y="3164541"/>
            <a:ext cx="1461247" cy="2644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797F3E33-E035-E88E-16D5-FFBC90CF6085}"/>
              </a:ext>
            </a:extLst>
          </p:cNvPr>
          <p:cNvSpPr/>
          <p:nvPr/>
        </p:nvSpPr>
        <p:spPr>
          <a:xfrm>
            <a:off x="5540188" y="3442447"/>
            <a:ext cx="1461247" cy="2644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F30DF16-B039-9766-927F-724CCABFFB84}"/>
              </a:ext>
            </a:extLst>
          </p:cNvPr>
          <p:cNvSpPr/>
          <p:nvPr/>
        </p:nvSpPr>
        <p:spPr>
          <a:xfrm>
            <a:off x="5540188" y="3706906"/>
            <a:ext cx="1461247" cy="2644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26816AA-D543-9C6F-694B-5B08F24F1F5A}"/>
              </a:ext>
            </a:extLst>
          </p:cNvPr>
          <p:cNvSpPr/>
          <p:nvPr/>
        </p:nvSpPr>
        <p:spPr>
          <a:xfrm>
            <a:off x="6096000" y="4427569"/>
            <a:ext cx="905435" cy="2644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3028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8F82D09-95D6-76B6-12E3-8BD14E1C41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Federal grant programs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E21A40B2-8A3F-0FF6-1A20-CE0A5B7D41E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Available for operating costs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BFCAFA23-530A-72E3-37F3-64E74F90570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5307 Funding (Urbanized Area Formula)</a:t>
            </a:r>
          </a:p>
          <a:p>
            <a:r>
              <a:rPr lang="en-US" dirty="0"/>
              <a:t>Formula funding</a:t>
            </a:r>
          </a:p>
          <a:p>
            <a:r>
              <a:rPr lang="en-US" dirty="0"/>
              <a:t>For transit agencies serving urban areas with populations greater than 200,000 people</a:t>
            </a:r>
          </a:p>
          <a:p>
            <a:r>
              <a:rPr lang="en-US" dirty="0"/>
              <a:t>Less funding to support operating expenses</a:t>
            </a:r>
          </a:p>
          <a:p>
            <a:pPr marL="0" indent="0">
              <a:buNone/>
            </a:pPr>
            <a:r>
              <a:rPr lang="en-US" b="1" dirty="0"/>
              <a:t>5311 Funding (Rural Formula)</a:t>
            </a:r>
          </a:p>
          <a:p>
            <a:r>
              <a:rPr lang="en-US" dirty="0"/>
              <a:t>Formula funding</a:t>
            </a:r>
          </a:p>
          <a:p>
            <a:r>
              <a:rPr lang="en-US" dirty="0"/>
              <a:t>For transit agencies serving rural areas and urban areas with populations less than 200,000 people</a:t>
            </a:r>
          </a:p>
          <a:p>
            <a:r>
              <a:rPr lang="en-US" dirty="0"/>
              <a:t>More funding to support operating expenses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2F903EE0-01D7-767F-91CA-3D0153319F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Only for capital costs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196A43E-FBFA-1A0F-1AE6-7F4608545353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b="1" dirty="0"/>
              <a:t>5337 Funding (State of Good Repair)</a:t>
            </a:r>
          </a:p>
          <a:p>
            <a:r>
              <a:rPr lang="en-US" dirty="0"/>
              <a:t>Formula funding </a:t>
            </a:r>
          </a:p>
          <a:p>
            <a:pPr lvl="1"/>
            <a:r>
              <a:rPr lang="en-US" dirty="0"/>
              <a:t>Plus competitive Rail Vehicle Replacement grants</a:t>
            </a:r>
          </a:p>
          <a:p>
            <a:r>
              <a:rPr lang="en-US" dirty="0"/>
              <a:t>For transit agencies serving urban areas</a:t>
            </a:r>
          </a:p>
          <a:p>
            <a:r>
              <a:rPr lang="en-US" dirty="0"/>
              <a:t>Exclusively for capital maintenance</a:t>
            </a:r>
          </a:p>
          <a:p>
            <a:pPr marL="0" indent="0">
              <a:buNone/>
            </a:pPr>
            <a:r>
              <a:rPr lang="en-US" b="1" dirty="0"/>
              <a:t>5309 Funding (Capital Investment Grants)</a:t>
            </a:r>
          </a:p>
          <a:p>
            <a:r>
              <a:rPr lang="en-US" dirty="0"/>
              <a:t>Competitive funding</a:t>
            </a:r>
          </a:p>
          <a:p>
            <a:r>
              <a:rPr lang="en-US" dirty="0"/>
              <a:t>All transit agencies are eligible</a:t>
            </a:r>
          </a:p>
          <a:p>
            <a:r>
              <a:rPr lang="en-US" dirty="0"/>
              <a:t>Exclusively for fixed-guideway capital projects</a:t>
            </a:r>
          </a:p>
        </p:txBody>
      </p:sp>
    </p:spTree>
    <p:extLst>
      <p:ext uri="{BB962C8B-B14F-4D97-AF65-F5344CB8AC3E}">
        <p14:creationId xmlns:p14="http://schemas.microsoft.com/office/powerpoint/2010/main" val="2337900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68D979-1E78-6B9B-3DA1-CF6B9515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by funding eligibility </a:t>
            </a:r>
            <a:br>
              <a:rPr lang="en-US" dirty="0"/>
            </a:br>
            <a:r>
              <a:rPr lang="en-US" sz="2400" dirty="0"/>
              <a:t>(overlapping categories)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0A9C8-B638-E609-3770-BEDEE1BD8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1791" y="1920865"/>
            <a:ext cx="4572009" cy="4572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9DF2A3-383B-A11B-8F64-406BC1E4B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920866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2937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68D979-1E78-6B9B-3DA1-CF6B951557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Differences by funding eligibility </a:t>
            </a:r>
            <a:br>
              <a:rPr lang="en-US" dirty="0"/>
            </a:br>
            <a:r>
              <a:rPr lang="en-US" sz="2400" dirty="0"/>
              <a:t>(exclusive categories)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D0A9C8-B638-E609-3770-BEDEE1BD86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781791" y="1920865"/>
            <a:ext cx="4572009" cy="4572009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49DF2A3-383B-A11B-8F64-406BC1E4B6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838200" y="1920866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938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56BBC5-EA2C-457A-F088-5F588804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State and local funding</a:t>
            </a:r>
          </a:p>
        </p:txBody>
      </p:sp>
    </p:spTree>
    <p:extLst>
      <p:ext uri="{BB962C8B-B14F-4D97-AF65-F5344CB8AC3E}">
        <p14:creationId xmlns:p14="http://schemas.microsoft.com/office/powerpoint/2010/main" val="16717243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9C71C-C5C3-A108-D5C4-314BC1038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Full, Reduced, and Rural Reporters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338F52-2300-6D4A-E4B7-9B35DE1DFE97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r>
              <a:rPr lang="en-US" sz="2000" b="1" dirty="0"/>
              <a:t>Full reporters: </a:t>
            </a:r>
            <a:r>
              <a:rPr lang="en-US" sz="2000" dirty="0"/>
              <a:t>Receive 5307 funding and operate at least 30 vehicles at a time during their busiest time (vehicles operating in maximum service)</a:t>
            </a:r>
          </a:p>
          <a:p>
            <a:pPr marL="0" indent="0">
              <a:buNone/>
            </a:pPr>
            <a:endParaRPr lang="en-US" sz="2000" dirty="0"/>
          </a:p>
          <a:p>
            <a:r>
              <a:rPr lang="en-US" sz="2000" b="1" dirty="0"/>
              <a:t>Reduced reporters: </a:t>
            </a:r>
            <a:r>
              <a:rPr lang="en-US" sz="2000" dirty="0"/>
              <a:t>Receive 5307 funding, but operate fewer than 30 vehicles in maximum service.</a:t>
            </a:r>
          </a:p>
          <a:p>
            <a:endParaRPr lang="en-US" sz="2000" dirty="0"/>
          </a:p>
          <a:p>
            <a:r>
              <a:rPr lang="en-US" sz="2000" b="1" dirty="0"/>
              <a:t>Rural reporters: </a:t>
            </a:r>
            <a:r>
              <a:rPr lang="en-US" sz="2000" dirty="0"/>
              <a:t>Receive 5311 funding, but not 5307 funding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AAD7EFE-AC99-6AA1-D588-8569383D6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310543" y="629955"/>
            <a:ext cx="3657607" cy="3657607"/>
          </a:xfrm>
          <a:prstGeom prst="rect">
            <a:avLst/>
          </a:prstGeom>
        </p:spPr>
      </p:pic>
      <p:pic>
        <p:nvPicPr>
          <p:cNvPr id="10" name="Picture 9" descr="A pie chart with a few different colored pieces&#10;&#10;Description automatically generated with medium confidence">
            <a:extLst>
              <a:ext uri="{FF2B5EF4-FFF2-40B4-BE49-F238E27FC236}">
                <a16:creationId xmlns:a16="http://schemas.microsoft.com/office/drawing/2014/main" id="{30AC2A48-45BE-B0B1-407C-D0F3E89EA9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10543" y="3429000"/>
            <a:ext cx="3657607" cy="3657607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A798E9E4-A873-57A3-02D4-5B1D39C2E031}"/>
              </a:ext>
            </a:extLst>
          </p:cNvPr>
          <p:cNvSpPr txBox="1"/>
          <p:nvPr/>
        </p:nvSpPr>
        <p:spPr>
          <a:xfrm>
            <a:off x="7747970" y="3429000"/>
            <a:ext cx="1564852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By number of agencies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F646DFC-DBA9-A012-56D1-83F3ACEB4C12}"/>
              </a:ext>
            </a:extLst>
          </p:cNvPr>
          <p:cNvSpPr txBox="1"/>
          <p:nvPr/>
        </p:nvSpPr>
        <p:spPr>
          <a:xfrm>
            <a:off x="7747970" y="6219321"/>
            <a:ext cx="184537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/>
              <a:t>By amount of service (VRM)</a:t>
            </a:r>
          </a:p>
        </p:txBody>
      </p:sp>
    </p:spTree>
    <p:extLst>
      <p:ext uri="{BB962C8B-B14F-4D97-AF65-F5344CB8AC3E}">
        <p14:creationId xmlns:p14="http://schemas.microsoft.com/office/powerpoint/2010/main" val="147378290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2405BF-F49C-037F-EAC4-587CC16C43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and dedicated funds</a:t>
            </a:r>
          </a:p>
        </p:txBody>
      </p:sp>
      <p:pic>
        <p:nvPicPr>
          <p:cNvPr id="6" name="Picture 5" descr="A graph with a black background&#10;&#10;Description automatically generated">
            <a:extLst>
              <a:ext uri="{FF2B5EF4-FFF2-40B4-BE49-F238E27FC236}">
                <a16:creationId xmlns:a16="http://schemas.microsoft.com/office/drawing/2014/main" id="{A84272B2-C6E2-0098-F541-948E545D30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920866"/>
            <a:ext cx="4572009" cy="4572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9BFB0AD-17E3-89EC-D535-C55E1FA4C42E}"/>
              </a:ext>
            </a:extLst>
          </p:cNvPr>
          <p:cNvSpPr txBox="1"/>
          <p:nvPr/>
        </p:nvSpPr>
        <p:spPr>
          <a:xfrm>
            <a:off x="1510558" y="5600522"/>
            <a:ext cx="1613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101 agencies only use general funds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2FF43E4-6F4A-9CC7-ADFB-AB52BE42C458}"/>
              </a:ext>
            </a:extLst>
          </p:cNvPr>
          <p:cNvSpPr txBox="1"/>
          <p:nvPr/>
        </p:nvSpPr>
        <p:spPr>
          <a:xfrm>
            <a:off x="1510558" y="2160494"/>
            <a:ext cx="1613646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127 agencies only use dedicated funds funds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9F627C5-A812-C91C-A18F-819E7A5A339E}"/>
              </a:ext>
            </a:extLst>
          </p:cNvPr>
          <p:cNvSpPr txBox="1"/>
          <p:nvPr/>
        </p:nvSpPr>
        <p:spPr>
          <a:xfrm>
            <a:off x="838200" y="1257478"/>
            <a:ext cx="94174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General funds are typically allocated through an annual budgeting process.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9D1A757-A0BE-043A-742D-11C94995AD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69410" y="1920866"/>
            <a:ext cx="4572009" cy="4572009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D7E40E55-60CC-AC19-FF55-4C638C84C753}"/>
              </a:ext>
            </a:extLst>
          </p:cNvPr>
          <p:cNvSpPr txBox="1"/>
          <p:nvPr/>
        </p:nvSpPr>
        <p:spPr>
          <a:xfrm>
            <a:off x="9352422" y="6365114"/>
            <a:ext cx="26782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Out of 527 full reporters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0D415D6-EFC3-A1EC-D8A7-94E73638FA0E}"/>
              </a:ext>
            </a:extLst>
          </p:cNvPr>
          <p:cNvSpPr txBox="1"/>
          <p:nvPr/>
        </p:nvSpPr>
        <p:spPr>
          <a:xfrm>
            <a:off x="7017121" y="2213424"/>
            <a:ext cx="19296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23 agencies use exclusively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55307C0-2C32-1648-7A7C-79920742ED12}"/>
              </a:ext>
            </a:extLst>
          </p:cNvPr>
          <p:cNvSpPr txBox="1"/>
          <p:nvPr/>
        </p:nvSpPr>
        <p:spPr>
          <a:xfrm>
            <a:off x="7017121" y="4222344"/>
            <a:ext cx="2037231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162 agencies use exclusively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2D9AA5C-FBB3-8704-96D5-256DD79C485C}"/>
              </a:ext>
            </a:extLst>
          </p:cNvPr>
          <p:cNvSpPr txBox="1"/>
          <p:nvPr/>
        </p:nvSpPr>
        <p:spPr>
          <a:xfrm>
            <a:off x="7035051" y="3658295"/>
            <a:ext cx="19296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8 agencies use exclusively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6ABB71-E00E-CB67-C224-6CFC05FCDF47}"/>
              </a:ext>
            </a:extLst>
          </p:cNvPr>
          <p:cNvSpPr txBox="1"/>
          <p:nvPr/>
        </p:nvSpPr>
        <p:spPr>
          <a:xfrm>
            <a:off x="7017120" y="3976450"/>
            <a:ext cx="192965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13 agencies use exclusively</a:t>
            </a:r>
          </a:p>
        </p:txBody>
      </p:sp>
    </p:spTree>
    <p:extLst>
      <p:ext uri="{BB962C8B-B14F-4D97-AF65-F5344CB8AC3E}">
        <p14:creationId xmlns:p14="http://schemas.microsoft.com/office/powerpoint/2010/main" val="359942009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F256BBC5-EA2C-457A-F088-5F588804CD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Taxes levied by transit agencies</a:t>
            </a:r>
          </a:p>
        </p:txBody>
      </p:sp>
    </p:spTree>
    <p:extLst>
      <p:ext uri="{BB962C8B-B14F-4D97-AF65-F5344CB8AC3E}">
        <p14:creationId xmlns:p14="http://schemas.microsoft.com/office/powerpoint/2010/main" val="1894827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6AE70F2-4F9A-11AA-A80A-972BCBCD25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taxes levied by agencies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DD3642A-5F6E-24A7-8E4A-6384DB1DC6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31659" cy="4351338"/>
          </a:xfrm>
        </p:spPr>
        <p:txBody>
          <a:bodyPr/>
          <a:lstStyle/>
          <a:p>
            <a:r>
              <a:rPr lang="en-US" dirty="0"/>
              <a:t>68 agencies levy taxes</a:t>
            </a:r>
          </a:p>
          <a:p>
            <a:r>
              <a:rPr lang="en-US" dirty="0"/>
              <a:t>63 use a single type of tax</a:t>
            </a:r>
          </a:p>
        </p:txBody>
      </p:sp>
      <p:pic>
        <p:nvPicPr>
          <p:cNvPr id="7" name="Picture 6" descr="A graph with different colored squares&#10;&#10;Description automatically generated with medium confidence">
            <a:extLst>
              <a:ext uri="{FF2B5EF4-FFF2-40B4-BE49-F238E27FC236}">
                <a16:creationId xmlns:a16="http://schemas.microsoft.com/office/drawing/2014/main" id="{10C8B990-C2D7-FFC6-35F8-E9CE9C2D29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690688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83359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F08BB4D-2B81-566F-507E-4F2CC6C10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Fares and directly-generated revenue</a:t>
            </a:r>
          </a:p>
        </p:txBody>
      </p:sp>
    </p:spTree>
    <p:extLst>
      <p:ext uri="{BB962C8B-B14F-4D97-AF65-F5344CB8AC3E}">
        <p14:creationId xmlns:p14="http://schemas.microsoft.com/office/powerpoint/2010/main" val="26606824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5961CF06-C1C9-79C9-056D-2B00A03D1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Sources of directly-generated revenue</a:t>
            </a:r>
          </a:p>
        </p:txBody>
      </p:sp>
      <p:pic>
        <p:nvPicPr>
          <p:cNvPr id="6" name="Picture 5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8C9C015B-5E48-CCB9-67DE-6192249E4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822254"/>
            <a:ext cx="4572009" cy="457200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8034E54-EDBE-C4EB-52CD-776E71A8F152}"/>
              </a:ext>
            </a:extLst>
          </p:cNvPr>
          <p:cNvSpPr txBox="1"/>
          <p:nvPr/>
        </p:nvSpPr>
        <p:spPr>
          <a:xfrm>
            <a:off x="7637929" y="5396752"/>
            <a:ext cx="3872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351 out of 2,292 transit operators collect no fare revenue </a:t>
            </a:r>
          </a:p>
        </p:txBody>
      </p:sp>
    </p:spTree>
    <p:extLst>
      <p:ext uri="{BB962C8B-B14F-4D97-AF65-F5344CB8AC3E}">
        <p14:creationId xmlns:p14="http://schemas.microsoft.com/office/powerpoint/2010/main" val="136165744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682D-A6DC-776B-40B2-C2F88EE8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Fare-free transit: </a:t>
            </a:r>
            <a:br>
              <a:rPr lang="en-US" dirty="0"/>
            </a:br>
            <a:r>
              <a:rPr lang="en-US" sz="3200" dirty="0"/>
              <a:t>All revenue sources</a:t>
            </a:r>
          </a:p>
        </p:txBody>
      </p:sp>
      <p:pic>
        <p:nvPicPr>
          <p:cNvPr id="3" name="Picture 2" descr="A graph of different colored squares&#10;&#10;Description automatically generated">
            <a:extLst>
              <a:ext uri="{FF2B5EF4-FFF2-40B4-BE49-F238E27FC236}">
                <a16:creationId xmlns:a16="http://schemas.microsoft.com/office/drawing/2014/main" id="{3C28E295-6C06-8605-7F37-8A3A0BECE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1224" y="1690688"/>
            <a:ext cx="4572009" cy="4572009"/>
          </a:xfrm>
          <a:prstGeom prst="rect">
            <a:avLst/>
          </a:prstGeom>
        </p:spPr>
      </p:pic>
      <p:pic>
        <p:nvPicPr>
          <p:cNvPr id="5" name="Picture 4" descr="A graph with different colored squares&#10;&#10;Description automatically generated">
            <a:extLst>
              <a:ext uri="{FF2B5EF4-FFF2-40B4-BE49-F238E27FC236}">
                <a16:creationId xmlns:a16="http://schemas.microsoft.com/office/drawing/2014/main" id="{802C6D8A-9E17-8A20-3D9B-132301113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7512" y="1690688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380141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682D-A6DC-776B-40B2-C2F88EE8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Fare-free transit: </a:t>
            </a:r>
            <a:br>
              <a:rPr lang="en-US" dirty="0"/>
            </a:br>
            <a:r>
              <a:rPr lang="en-US" sz="3200" dirty="0"/>
              <a:t>Reliance on state and local general funds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28E295-6C06-8605-7F37-8A3A0BECE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224" y="1690688"/>
            <a:ext cx="4572009" cy="4572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2C6D8A-9E17-8A20-3D9B-132301113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7512" y="1690688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67039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682D-A6DC-776B-40B2-C2F88EE8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Fare-free transit: </a:t>
            </a:r>
            <a:br>
              <a:rPr lang="en-US" dirty="0"/>
            </a:br>
            <a:r>
              <a:rPr lang="en-US" sz="3200" dirty="0"/>
              <a:t>Types of dedicated transportation funds from local/state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28E295-6C06-8605-7F37-8A3A0BECE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224" y="1690688"/>
            <a:ext cx="4572009" cy="45720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2C6D8A-9E17-8A20-3D9B-13230111381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177512" y="1690688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990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682D-A6DC-776B-40B2-C2F88EE8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Fare-free transit: </a:t>
            </a:r>
            <a:br>
              <a:rPr lang="en-US" dirty="0"/>
            </a:br>
            <a:r>
              <a:rPr lang="en-US" sz="3200" dirty="0"/>
              <a:t>Taxes levied by transit agencies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28E295-6C06-8605-7F37-8A3A0BECE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224" y="1690688"/>
            <a:ext cx="4572009" cy="457200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D4E0B551-6E74-C3B6-5952-E1164FEB06C3}"/>
              </a:ext>
            </a:extLst>
          </p:cNvPr>
          <p:cNvSpPr txBox="1"/>
          <p:nvPr/>
        </p:nvSpPr>
        <p:spPr>
          <a:xfrm>
            <a:off x="6618769" y="5431700"/>
            <a:ext cx="520841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Only two fare-free systems levy taxes (both income tax):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Connect Transit (Logan, Utah)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Western Reserve Transit Authority (Youngstown, Ohio)</a:t>
            </a:r>
          </a:p>
        </p:txBody>
      </p:sp>
    </p:spTree>
    <p:extLst>
      <p:ext uri="{BB962C8B-B14F-4D97-AF65-F5344CB8AC3E}">
        <p14:creationId xmlns:p14="http://schemas.microsoft.com/office/powerpoint/2010/main" val="9121689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61682D-A6DC-776B-40B2-C2F88EE81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Fare-free transit: </a:t>
            </a:r>
            <a:br>
              <a:rPr lang="en-US" dirty="0"/>
            </a:br>
            <a:r>
              <a:rPr lang="en-US" sz="3200" dirty="0"/>
              <a:t>Directly-generated revenue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C28E295-6C06-8605-7F37-8A3A0BECEB1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01224" y="1690688"/>
            <a:ext cx="4572009" cy="45720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AB780F8-82E4-C9B2-22E5-0AC59A92E1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618767" y="1690687"/>
            <a:ext cx="4572009" cy="4572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8919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0949079-F8C8-ABC0-5059-16A34D15A5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0FF74A-478E-4598-6AED-BE9588E4BB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Carole Turley Voulgaris</a:t>
            </a:r>
          </a:p>
          <a:p>
            <a:r>
              <a:rPr lang="en-US" dirty="0"/>
              <a:t>cvoulgaris@gsd.harvard.edu</a:t>
            </a:r>
          </a:p>
        </p:txBody>
      </p:sp>
    </p:spTree>
    <p:extLst>
      <p:ext uri="{BB962C8B-B14F-4D97-AF65-F5344CB8AC3E}">
        <p14:creationId xmlns:p14="http://schemas.microsoft.com/office/powerpoint/2010/main" val="33287569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2805</TotalTime>
  <Words>608</Words>
  <Application>Microsoft Office PowerPoint</Application>
  <PresentationFormat>Widescreen</PresentationFormat>
  <Paragraphs>117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7" baseType="lpstr">
      <vt:lpstr>Aptos</vt:lpstr>
      <vt:lpstr>Aptos Display</vt:lpstr>
      <vt:lpstr>Aptos Narrow</vt:lpstr>
      <vt:lpstr>Arial</vt:lpstr>
      <vt:lpstr>Office Theme</vt:lpstr>
      <vt:lpstr>Transit Funding in the United States</vt:lpstr>
      <vt:lpstr>Transit agencies</vt:lpstr>
      <vt:lpstr>Capital and operating expenditures</vt:lpstr>
      <vt:lpstr>Revenue Sources</vt:lpstr>
      <vt:lpstr>Federal Funding</vt:lpstr>
      <vt:lpstr>Federal funding</vt:lpstr>
      <vt:lpstr>Federal grant programs</vt:lpstr>
      <vt:lpstr>Differences by funding eligibility  (overlapping categories)</vt:lpstr>
      <vt:lpstr>Differences by funding eligibility  (exclusive categories)</vt:lpstr>
      <vt:lpstr>State and local funding</vt:lpstr>
      <vt:lpstr>Full, Reduced, and Rural Reporters</vt:lpstr>
      <vt:lpstr>General and dedicated funds</vt:lpstr>
      <vt:lpstr>Taxes levied by transit agencies</vt:lpstr>
      <vt:lpstr>Types of taxes levied by agencies</vt:lpstr>
      <vt:lpstr>Fares and directly-generated revenue</vt:lpstr>
      <vt:lpstr>Sources of directly-generated revenue</vt:lpstr>
      <vt:lpstr>Fare-free transit:  All revenue sources</vt:lpstr>
      <vt:lpstr>Fare-free transit:  Reliance on state and local general funds</vt:lpstr>
      <vt:lpstr>Fare-free transit:  Types of dedicated transportation funds from local/state</vt:lpstr>
      <vt:lpstr>Fare-free transit:  Taxes levied by transit agencies</vt:lpstr>
      <vt:lpstr>Fare-free transit:  Directly-generated revenue</vt:lpstr>
      <vt:lpstr>Thank you!</vt:lpstr>
    </vt:vector>
  </TitlesOfParts>
  <Company>GSD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Transit Funding in the United States</dc:title>
  <dc:creator>Voulgaris, Carole Turley</dc:creator>
  <cp:lastModifiedBy>Voulgaris, Carole Turley</cp:lastModifiedBy>
  <cp:revision>5</cp:revision>
  <dcterms:created xsi:type="dcterms:W3CDTF">2025-10-25T17:34:42Z</dcterms:created>
  <dcterms:modified xsi:type="dcterms:W3CDTF">2025-10-27T16:53:34Z</dcterms:modified>
</cp:coreProperties>
</file>